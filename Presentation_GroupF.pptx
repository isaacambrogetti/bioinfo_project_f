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8" r:id="rId6"/>
    <p:sldId id="257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7FA2"/>
    <a:srgbClr val="0068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31C1DE-6CB3-4ACC-9120-42E615B557D9}" v="40" dt="2025-11-09T17:14:12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65878" autoAdjust="0"/>
  </p:normalViewPr>
  <p:slideViewPr>
    <p:cSldViewPr snapToGrid="0">
      <p:cViewPr varScale="1">
        <p:scale>
          <a:sx n="59" d="100"/>
          <a:sy n="59" d="100"/>
        </p:scale>
        <p:origin x="9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77104-00D9-4B64-A669-EEAC05C8474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8DAE5-0CE8-4213-AAEA-A7214ADEF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71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noProof="0" dirty="0">
                <a:latin typeface="Helvetica" panose="020B0604020202020204" pitchFamily="34" charset="0"/>
                <a:cs typeface="Helvetica" panose="020B0604020202020204" pitchFamily="34" charset="0"/>
              </a:rPr>
              <a:t>- Saccharomyces cerevisiae </a:t>
            </a:r>
            <a:r>
              <a:rPr lang="en-US" sz="1200" noProof="0" dirty="0">
                <a:latin typeface="Helvetica" panose="020B0604020202020204" pitchFamily="34" charset="0"/>
                <a:cs typeface="Helvetica" panose="020B0604020202020204" pitchFamily="34" charset="0"/>
              </a:rPr>
              <a:t>– switches from unicellular to filamentous growth phenotype under specific environmental and genetic conditions</a:t>
            </a:r>
          </a:p>
          <a:p>
            <a:pPr marL="171450" indent="-171450">
              <a:buFontTx/>
              <a:buChar char="-"/>
            </a:pPr>
            <a:endParaRPr lang="en-US" sz="1200" noProof="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noProof="0" dirty="0">
                <a:latin typeface="Helvetica" panose="020B0604020202020204" pitchFamily="34" charset="0"/>
                <a:cs typeface="Helvetica" panose="020B0604020202020204" pitchFamily="34" charset="0"/>
              </a:rPr>
              <a:t>phenotype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 transition regulated by </a:t>
            </a:r>
            <a:r>
              <a:rPr lang="en-US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Mitogen-Activated Protein Kinase (MAPK) pathway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 – filamentous (fMAPK) pathway</a:t>
            </a:r>
          </a:p>
          <a:p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WT strain carries a </a:t>
            </a:r>
            <a:r>
              <a:rPr lang="en-US" sz="12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ste4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 mutation (∑1278b/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ste4</a:t>
            </a:r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∆) disrupting fMAPK pathway</a:t>
            </a:r>
          </a:p>
          <a:p>
            <a:pPr marL="171450" indent="-171450">
              <a:buFontTx/>
              <a:buChar char="-"/>
            </a:pPr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- STE4 : </a:t>
            </a:r>
            <a:r>
              <a:rPr lang="en-US" dirty="0"/>
              <a:t>encodes the </a:t>
            </a:r>
            <a:r>
              <a:rPr lang="el-GR" b="1" dirty="0"/>
              <a:t>β </a:t>
            </a:r>
            <a:r>
              <a:rPr lang="en-US" b="1" dirty="0"/>
              <a:t>subunit of the heterotrimeric G-protein</a:t>
            </a:r>
            <a:r>
              <a:rPr lang="en-US" dirty="0"/>
              <a:t> (G</a:t>
            </a:r>
            <a:r>
              <a:rPr lang="el-GR" dirty="0"/>
              <a:t>β) </a:t>
            </a:r>
            <a:r>
              <a:rPr lang="en-US" dirty="0"/>
              <a:t>that functions together with </a:t>
            </a:r>
            <a:r>
              <a:rPr lang="en-US" b="1" dirty="0"/>
              <a:t>STE18 (G</a:t>
            </a:r>
            <a:r>
              <a:rPr lang="el-GR" b="1" dirty="0"/>
              <a:t>γ)</a:t>
            </a:r>
            <a:r>
              <a:rPr lang="el-GR" dirty="0"/>
              <a:t> </a:t>
            </a:r>
            <a:r>
              <a:rPr lang="en-US" dirty="0"/>
              <a:t>and </a:t>
            </a:r>
            <a:r>
              <a:rPr lang="en-US" b="1" dirty="0"/>
              <a:t>GPA1 (G</a:t>
            </a:r>
            <a:r>
              <a:rPr lang="el-GR" b="1" dirty="0"/>
              <a:t>α)</a:t>
            </a:r>
            <a:r>
              <a:rPr lang="el-GR" dirty="0"/>
              <a:t>.</a:t>
            </a:r>
            <a:r>
              <a:rPr lang="de-CH" dirty="0"/>
              <a:t> </a:t>
            </a:r>
            <a:r>
              <a:rPr lang="en-US" dirty="0"/>
              <a:t>In yeast, these proteins sit </a:t>
            </a:r>
            <a:r>
              <a:rPr lang="en-US" b="1" dirty="0"/>
              <a:t>downstream of a G-protein–coupled receptor (GPCR)</a:t>
            </a:r>
            <a:r>
              <a:rPr lang="en-US" dirty="0"/>
              <a:t> that senses environmental or mating signals.</a:t>
            </a:r>
          </a:p>
          <a:p>
            <a:pPr marL="171450" indent="-171450">
              <a:buFontTx/>
              <a:buChar char="-"/>
            </a:pPr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b="1" dirty="0"/>
              <a:t>In the fMAPK (filamentous growth) pathway:</a:t>
            </a:r>
          </a:p>
          <a:p>
            <a:r>
              <a:rPr lang="en-US" dirty="0"/>
              <a:t>When a cell senses nutrient limitation or other stimuli, the receptor activates </a:t>
            </a:r>
            <a:r>
              <a:rPr lang="en-US" b="1" dirty="0"/>
              <a:t>GPA1 (G</a:t>
            </a:r>
            <a:r>
              <a:rPr lang="el-GR" b="1" dirty="0"/>
              <a:t>α)</a:t>
            </a:r>
            <a:r>
              <a:rPr lang="el-GR" dirty="0"/>
              <a:t> </a:t>
            </a:r>
            <a:r>
              <a:rPr lang="en-US" dirty="0"/>
              <a:t>to release the </a:t>
            </a:r>
            <a:r>
              <a:rPr lang="en-US" b="1" dirty="0"/>
              <a:t>G</a:t>
            </a:r>
            <a:r>
              <a:rPr lang="el-GR" b="1" dirty="0"/>
              <a:t>βγ </a:t>
            </a:r>
            <a:r>
              <a:rPr lang="en-US" b="1" dirty="0"/>
              <a:t>dimer (STE4–STE18)</a:t>
            </a:r>
            <a:r>
              <a:rPr lang="en-US" dirty="0"/>
              <a:t>.</a:t>
            </a:r>
          </a:p>
          <a:p>
            <a:r>
              <a:rPr lang="en-US" b="1" dirty="0"/>
              <a:t>STE4–STE18</a:t>
            </a:r>
            <a:r>
              <a:rPr lang="en-US" dirty="0"/>
              <a:t> then </a:t>
            </a:r>
            <a:r>
              <a:rPr lang="en-US" b="1" dirty="0"/>
              <a:t>activates the MAPK cascade</a:t>
            </a:r>
            <a:r>
              <a:rPr lang="en-US" dirty="0"/>
              <a:t> by:</a:t>
            </a:r>
          </a:p>
          <a:p>
            <a:pPr lvl="1"/>
            <a:r>
              <a:rPr lang="en-US" dirty="0"/>
              <a:t>Recruiting </a:t>
            </a:r>
            <a:r>
              <a:rPr lang="en-US" b="1" dirty="0"/>
              <a:t>STE20</a:t>
            </a:r>
            <a:r>
              <a:rPr lang="en-US" dirty="0"/>
              <a:t> (a p21-activated kinase),</a:t>
            </a:r>
          </a:p>
          <a:p>
            <a:pPr lvl="1"/>
            <a:r>
              <a:rPr lang="en-US" dirty="0"/>
              <a:t>Which activates </a:t>
            </a:r>
            <a:r>
              <a:rPr lang="en-US" b="1" dirty="0"/>
              <a:t>STE11 (MAPKKK)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Which phosphorylates </a:t>
            </a:r>
            <a:r>
              <a:rPr lang="en-US" b="1" dirty="0"/>
              <a:t>STE7 (MAPKK)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Which activates </a:t>
            </a:r>
            <a:r>
              <a:rPr lang="en-US" b="1" dirty="0"/>
              <a:t>KSS1 (MAPK)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Which then activates the transcription factor </a:t>
            </a:r>
            <a:r>
              <a:rPr lang="en-US" b="1" dirty="0"/>
              <a:t>STE12</a:t>
            </a:r>
            <a:r>
              <a:rPr lang="en-US" dirty="0"/>
              <a:t>, leading to filamentous gene expression (including </a:t>
            </a:r>
            <a:r>
              <a:rPr lang="en-US" i="1" dirty="0"/>
              <a:t>FUS1</a:t>
            </a:r>
            <a:r>
              <a:rPr lang="en-US" dirty="0"/>
              <a:t>, </a:t>
            </a:r>
            <a:r>
              <a:rPr lang="en-US" i="1" dirty="0"/>
              <a:t>FLO11</a:t>
            </a:r>
            <a:r>
              <a:rPr lang="en-US" dirty="0"/>
              <a:t>, etc.).</a:t>
            </a:r>
          </a:p>
          <a:p>
            <a:pPr marL="171450" indent="-171450">
              <a:buFontTx/>
              <a:buChar char="-"/>
            </a:pPr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71450" indent="-171450">
              <a:buFontTx/>
              <a:buChar char="-"/>
            </a:pPr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b="1" dirty="0"/>
              <a:t>🧬 2. Meaning of </a:t>
            </a:r>
            <a:r>
              <a:rPr lang="en-US" b="1" i="1" dirty="0"/>
              <a:t>FUS1-LacZ expression level = hyperactivity of fMAPK pathway</a:t>
            </a:r>
            <a:endParaRPr lang="en-US" b="1" dirty="0"/>
          </a:p>
          <a:p>
            <a:r>
              <a:rPr lang="en-US" b="1" dirty="0"/>
              <a:t>FUS1</a:t>
            </a:r>
            <a:r>
              <a:rPr lang="en-US" dirty="0"/>
              <a:t> is a gene normally turned on during </a:t>
            </a:r>
            <a:r>
              <a:rPr lang="en-US" b="1" dirty="0"/>
              <a:t>mating and filamentous growth</a:t>
            </a:r>
            <a:r>
              <a:rPr lang="en-US" dirty="0"/>
              <a:t> in yeast.</a:t>
            </a:r>
          </a:p>
          <a:p>
            <a:r>
              <a:rPr lang="en-US" dirty="0"/>
              <a:t>It is under control of the </a:t>
            </a:r>
            <a:r>
              <a:rPr lang="en-US" b="1" dirty="0"/>
              <a:t>Ste12 transcription factor</a:t>
            </a:r>
            <a:r>
              <a:rPr lang="en-US" dirty="0"/>
              <a:t>, which is activated by the </a:t>
            </a:r>
            <a:r>
              <a:rPr lang="en-US" b="1" dirty="0"/>
              <a:t>fMAPK signaling cascade</a:t>
            </a:r>
            <a:r>
              <a:rPr lang="en-US" dirty="0"/>
              <a:t>.</a:t>
            </a:r>
          </a:p>
          <a:p>
            <a:r>
              <a:rPr lang="en-US" b="1" dirty="0"/>
              <a:t>Therefore:</a:t>
            </a:r>
          </a:p>
          <a:p>
            <a:r>
              <a:rPr lang="en-US" dirty="0"/>
              <a:t>The </a:t>
            </a:r>
            <a:r>
              <a:rPr lang="en-US" b="1" dirty="0"/>
              <a:t>FUS1-LacZ</a:t>
            </a:r>
            <a:r>
              <a:rPr lang="en-US" dirty="0"/>
              <a:t> fusion acts as a </a:t>
            </a:r>
            <a:r>
              <a:rPr lang="en-US" b="1" dirty="0"/>
              <a:t>reporter</a:t>
            </a:r>
            <a:r>
              <a:rPr lang="en-US" dirty="0"/>
              <a:t> for fMAPK activity.</a:t>
            </a:r>
          </a:p>
          <a:p>
            <a:r>
              <a:rPr lang="en-US" dirty="0"/>
              <a:t>When </a:t>
            </a:r>
            <a:r>
              <a:rPr lang="en-US" b="1" dirty="0"/>
              <a:t>fMAPK</a:t>
            </a:r>
            <a:r>
              <a:rPr lang="en-US" dirty="0"/>
              <a:t> is active → </a:t>
            </a:r>
            <a:r>
              <a:rPr lang="en-US" b="1" dirty="0"/>
              <a:t>FUS1 promoter</a:t>
            </a:r>
            <a:r>
              <a:rPr lang="en-US" dirty="0"/>
              <a:t> turns on → </a:t>
            </a:r>
            <a:r>
              <a:rPr lang="en-US" b="1" dirty="0"/>
              <a:t>LacZ (β-galactosidase)</a:t>
            </a:r>
            <a:r>
              <a:rPr lang="en-US" dirty="0"/>
              <a:t> is produced → Measured as high expression.</a:t>
            </a:r>
          </a:p>
          <a:p>
            <a:r>
              <a:rPr lang="en-US" dirty="0"/>
              <a:t>When </a:t>
            </a:r>
            <a:r>
              <a:rPr lang="en-US" b="1" dirty="0"/>
              <a:t>fMAPK</a:t>
            </a:r>
            <a:r>
              <a:rPr lang="en-US" dirty="0"/>
              <a:t> is inactive → low or no FUS1-LacZ expression.</a:t>
            </a:r>
          </a:p>
          <a:p>
            <a:r>
              <a:rPr lang="en-US" dirty="0"/>
              <a:t>So in this experiment:</a:t>
            </a:r>
          </a:p>
          <a:p>
            <a:r>
              <a:rPr lang="en-US" b="1" dirty="0"/>
              <a:t>High FUS1-LacZ expression = Hyperactivation of the fMAPK pathway</a:t>
            </a:r>
            <a:r>
              <a:rPr lang="en-US" dirty="0"/>
              <a:t>, meaning the pathway is overactive (e.g., due to a mutation that removes inhibition or mimics activation).</a:t>
            </a:r>
            <a:br>
              <a:rPr lang="en-US" dirty="0"/>
            </a:br>
            <a:r>
              <a:rPr lang="en-US" b="1" dirty="0"/>
              <a:t>Low FUS1-LacZ expression = Inactivation of the pathway</a:t>
            </a:r>
            <a:r>
              <a:rPr lang="en-US" dirty="0"/>
              <a:t>, as in ste4Δ mutants.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🧩 In context of your suppressor project:</a:t>
            </a:r>
          </a:p>
          <a:p>
            <a:r>
              <a:rPr lang="en-US" dirty="0"/>
              <a:t>The </a:t>
            </a:r>
            <a:r>
              <a:rPr lang="en-US" b="1" dirty="0"/>
              <a:t>ste4Δ</a:t>
            </a:r>
            <a:r>
              <a:rPr lang="en-US" dirty="0"/>
              <a:t> strain has an </a:t>
            </a:r>
            <a:r>
              <a:rPr lang="en-US" i="1" dirty="0"/>
              <a:t>inactive</a:t>
            </a:r>
            <a:r>
              <a:rPr lang="en-US" dirty="0"/>
              <a:t> fMAPK pathway → no FUS1-LacZ expression.</a:t>
            </a:r>
          </a:p>
          <a:p>
            <a:r>
              <a:rPr lang="en-US" b="1" dirty="0"/>
              <a:t>Suppressor mutants</a:t>
            </a:r>
            <a:r>
              <a:rPr lang="en-US" dirty="0"/>
              <a:t> may restore </a:t>
            </a:r>
            <a:r>
              <a:rPr lang="en-US" b="1" dirty="0"/>
              <a:t>FUS1-LacZ activity</a:t>
            </a:r>
            <a:r>
              <a:rPr lang="en-US" dirty="0"/>
              <a:t>, showing that other mutations reactivated or bypassed the pathway.</a:t>
            </a:r>
          </a:p>
          <a:p>
            <a:r>
              <a:rPr lang="en-US" dirty="0"/>
              <a:t>Measuring </a:t>
            </a:r>
            <a:r>
              <a:rPr lang="en-US" b="1" dirty="0"/>
              <a:t>FUS1-LacZ expression</a:t>
            </a:r>
            <a:r>
              <a:rPr lang="en-US" dirty="0"/>
              <a:t> or growth on </a:t>
            </a:r>
            <a:r>
              <a:rPr lang="en-US" b="1" dirty="0"/>
              <a:t>SD-HIS + 3-ATA</a:t>
            </a:r>
            <a:r>
              <a:rPr lang="en-US" dirty="0"/>
              <a:t> provides a </a:t>
            </a:r>
            <a:r>
              <a:rPr lang="en-US" b="1" dirty="0"/>
              <a:t>phenotypic readout</a:t>
            </a:r>
            <a:r>
              <a:rPr lang="en-US" dirty="0"/>
              <a:t> for fMAPK pathway activity.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8DAE5-0CE8-4213-AAEA-A7214ADEFD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583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Can mutations in STE12, STE11, or KSS1 restore the ste4Δ phenotype?</a:t>
            </a:r>
          </a:p>
          <a:p>
            <a:r>
              <a:rPr lang="en-US" dirty="0"/>
              <a:t>Yes — </a:t>
            </a:r>
            <a:r>
              <a:rPr lang="en-US" b="1" dirty="0"/>
              <a:t>potentially</a:t>
            </a:r>
            <a:r>
              <a:rPr lang="en-US" dirty="0"/>
              <a:t>, but only </a:t>
            </a:r>
            <a:r>
              <a:rPr lang="en-US" b="1" dirty="0"/>
              <a:t>activating (gain-of-function)</a:t>
            </a:r>
            <a:r>
              <a:rPr lang="en-US" dirty="0"/>
              <a:t> mutations could do this.</a:t>
            </a:r>
            <a:br>
              <a:rPr lang="en-US" dirty="0"/>
            </a:br>
            <a:r>
              <a:rPr lang="en-US" dirty="0"/>
              <a:t>Here’s how each could act as a </a:t>
            </a:r>
            <a:r>
              <a:rPr lang="en-US" b="1" dirty="0"/>
              <a:t>suppressor</a:t>
            </a:r>
            <a:r>
              <a:rPr lang="en-US" dirty="0"/>
              <a:t> of </a:t>
            </a:r>
            <a:r>
              <a:rPr lang="en-US" i="1" dirty="0"/>
              <a:t>ste4Δ</a:t>
            </a:r>
            <a:r>
              <a:rPr lang="en-US" dirty="0"/>
              <a:t>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STE11 (MAPKKK)</a:t>
            </a:r>
            <a:endParaRPr lang="en-US" dirty="0"/>
          </a:p>
          <a:p>
            <a:r>
              <a:rPr lang="en-US" dirty="0"/>
              <a:t>Gain-of-function mutation that makes STE11 active without upstream STE20 or STE4 signaling.</a:t>
            </a:r>
          </a:p>
          <a:p>
            <a:r>
              <a:rPr lang="en-US" dirty="0"/>
              <a:t>Constitutively activates the MAPK cascade (STE7 → KSS1 → STE12), even in absence of STE4.</a:t>
            </a:r>
          </a:p>
          <a:p>
            <a:endParaRPr lang="en-US" dirty="0"/>
          </a:p>
          <a:p>
            <a:r>
              <a:rPr lang="en-US" b="1" dirty="0"/>
              <a:t>KSS1 (MAPK)</a:t>
            </a:r>
            <a:endParaRPr lang="en-US" dirty="0"/>
          </a:p>
          <a:p>
            <a:r>
              <a:rPr lang="en-US" dirty="0"/>
              <a:t>Mutation that keeps KSS1 in a phosphorylated or active-like state</a:t>
            </a:r>
          </a:p>
          <a:p>
            <a:r>
              <a:rPr lang="en-US" dirty="0"/>
              <a:t>Directly activates transcription factors (like STE12) controlling filamentous genes.</a:t>
            </a:r>
          </a:p>
          <a:p>
            <a:endParaRPr lang="en-US" dirty="0"/>
          </a:p>
          <a:p>
            <a:r>
              <a:rPr lang="en-US" b="1" dirty="0"/>
              <a:t>STE12 (transcription factor)</a:t>
            </a:r>
            <a:endParaRPr lang="en-US" dirty="0"/>
          </a:p>
          <a:p>
            <a:r>
              <a:rPr lang="en-US" dirty="0"/>
              <a:t>Mutation that relieves repression (e.g., reduced Dig1/Dig2 inhibition) or increases activity. </a:t>
            </a:r>
          </a:p>
          <a:p>
            <a:r>
              <a:rPr lang="en-US" dirty="0"/>
              <a:t>Increases expression of filamentation genes (</a:t>
            </a:r>
            <a:r>
              <a:rPr lang="en-US" i="1" dirty="0"/>
              <a:t>FUS1</a:t>
            </a:r>
            <a:r>
              <a:rPr lang="en-US" dirty="0"/>
              <a:t>, </a:t>
            </a:r>
            <a:r>
              <a:rPr lang="en-US" i="1" dirty="0"/>
              <a:t>FLO11</a:t>
            </a:r>
            <a:r>
              <a:rPr lang="en-US" dirty="0"/>
              <a:t>) even without MAPK signaling.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48DAE5-0CE8-4213-AAEA-A7214ADEFD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82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36E6-CB9B-8139-2C78-A3667F343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EEC0C-8FBB-8B39-C6D5-9E0CFF2F1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88555-4CB4-F8DE-C15F-63B6782A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A1808-3F54-FCE0-D221-C4B8C8EA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D7691-634F-A03C-E55F-BB1A9D83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7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E365F-0407-8D79-B0DF-AA48C620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75CE5-0C32-EF80-32BF-830D678A1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5648B-5216-BE0E-A8DC-5C89B0AF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A89EB-4973-65FF-783E-165BEB43E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5A535-0722-6F02-390D-9A11119F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46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FA3AA-A80E-2C8A-1E69-72D4A48C9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C0637-A688-7DA0-5EA7-A04F1C4DC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8F31E-3FCF-A29B-C3EA-7C8DEC46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B7C2D-3041-1FA6-BEA7-66782394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56927-8826-DCF1-ECC2-19AEBD31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4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20A1-4421-2E4F-6F5E-1BA0E06D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45BC1-3347-320F-B583-2D653D328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242F6-9653-FF7E-B85A-A1BE28C69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0508D-50EA-5D6B-B9D9-7A30AB17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6B6F7-E9B5-D907-34A4-E045EF601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C9543-A64C-FCAD-169B-D538481E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13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DB11-0147-67BE-510E-35730646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137D3-7ACC-0F26-DF35-BE2FB826A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B1DEF-2981-A0FE-9DE9-FE3DB1A7D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B280D-9893-EE30-856B-C7345B52B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97AA05-8E2B-3555-1B5E-9EC95F28E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CBF325-42FF-E530-38AE-D08C195AF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74A60B-790D-78CD-2A15-055B95AC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ABD9F-A47F-F737-63FE-EC7B55F8F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7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ADB00-1B2F-5322-DE88-0EFED895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758623-14F3-3E26-923F-DBF317C0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79DBF-A81B-8D7C-E00A-8CFF64DD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CA0EE-2166-04D5-E7C0-35BFE87D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7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B6330-EF6E-16EB-401F-0F390E386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C139E-7D89-E9C9-1E8C-EF5EB4E7A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7106A-2CB5-D587-DC52-C46BFBEB7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68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ABE1-BA81-12D8-83ED-DB6FB13D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282C8-D12A-C88C-2424-FC03A9F09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79B26-BDE9-66A0-0315-B327DF4A1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D1612-84C3-EE01-BB72-3F280266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440E5-EB3A-A331-616C-69C51757E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CF8F1-69BB-F34B-A204-6190C225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1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76EF7-7370-09AB-C4B5-8215C699A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80AAF4-9BE8-AE11-5BBA-F06860CDF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50125-E7B3-58A3-9A0C-6408C2802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32698-0157-152D-F976-1C62262F4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BB7BD-22F4-4D0F-F621-5DD5011B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819C7-3296-8732-7132-3050BA58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1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9EFB-BD6E-8884-1499-16A1C548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1ED48-AF14-C8D6-A637-922F70F5B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FABA0-DBF5-5DEC-FAE0-17788AFA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8DB96-FE99-4BCA-032F-405F3161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EDF3-42E4-6B97-537F-BB0A6545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5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4ADC32-D578-6482-FD01-2DA366E09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DBAC3-70DD-DF91-6A3E-016E46888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80E2D-84CE-800D-863A-9A49BF3E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9C70F-4C25-D117-9C15-0EBA6A4A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88D33-3CC5-D895-A16D-544FBA9C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8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61E61-D9EC-4B5F-01F1-A0DAFD55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898E3-129A-8439-9831-FD3B9B472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013EC-BC0A-A1E7-2152-931F27F9E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57012-6E53-4DFC-BA64-9362A57F7411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32C60-3A48-A679-4DFB-F3BE141FD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81BF3-9C82-39CA-53F2-D1E74D807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0BDEE-4D29-476D-BBA6-37259F1E9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792D44A-4171-4E1C-B7BF-3BD4AD1FEF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FD7839-62C1-CA28-8E4E-0EDA2435E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9621" y="2243887"/>
            <a:ext cx="9432758" cy="1937085"/>
          </a:xfrm>
        </p:spPr>
        <p:txBody>
          <a:bodyPr>
            <a:normAutofit/>
          </a:bodyPr>
          <a:lstStyle/>
          <a:p>
            <a:r>
              <a:rPr lang="en-US" b="1" noProof="0" dirty="0">
                <a:latin typeface="Bahnschrift Light" panose="020B0502040204020203" pitchFamily="34" charset="0"/>
              </a:rPr>
              <a:t>SBC.07107 - Bioinformatics</a:t>
            </a:r>
            <a:br>
              <a:rPr lang="en-US" b="1" noProof="0" dirty="0">
                <a:latin typeface="Bahnschrift Light" panose="020B0502040204020203" pitchFamily="34" charset="0"/>
              </a:rPr>
            </a:br>
            <a:r>
              <a:rPr lang="en-US" b="1" noProof="0" dirty="0">
                <a:latin typeface="Bahnschrift Light" panose="020B0502040204020203" pitchFamily="34" charset="0"/>
              </a:rPr>
              <a:t>Group-F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69075-6C01-8D4B-C62F-F0AD6E36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3874"/>
            <a:ext cx="9144000" cy="505326"/>
          </a:xfrm>
        </p:spPr>
        <p:txBody>
          <a:bodyPr/>
          <a:lstStyle/>
          <a:p>
            <a:r>
              <a:rPr lang="de-CH" dirty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rPr>
              <a:t>Isaac </a:t>
            </a:r>
            <a:r>
              <a:rPr lang="de-CH" dirty="0" err="1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rPr>
              <a:t>Ambrogetti</a:t>
            </a:r>
            <a:r>
              <a:rPr lang="de-CH" dirty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rPr>
              <a:t>/ Augustin </a:t>
            </a:r>
            <a:r>
              <a:rPr lang="de-CH" dirty="0" err="1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rPr>
              <a:t>Beaud</a:t>
            </a:r>
            <a:r>
              <a:rPr lang="de-CH" dirty="0">
                <a:solidFill>
                  <a:schemeClr val="bg2">
                    <a:lumMod val="25000"/>
                  </a:schemeClr>
                </a:solidFill>
                <a:latin typeface="Bahnschrift Light" panose="020B0502040204020203" pitchFamily="34" charset="0"/>
              </a:rPr>
              <a:t>/ Morgane Gull / Tom Lüthi</a:t>
            </a:r>
            <a:endParaRPr lang="en-US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67000"/>
              </a:schemeClr>
            </a:gs>
            <a:gs pos="48000">
              <a:schemeClr val="accent2">
                <a:lumMod val="97000"/>
                <a:lumOff val="3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1E5749-10B0-37ED-8278-13BFAB6122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8421"/>
          <a:stretch>
            <a:fillRect/>
          </a:stretch>
        </p:blipFill>
        <p:spPr>
          <a:xfrm>
            <a:off x="477252" y="240631"/>
            <a:ext cx="6982326" cy="10784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5DC6F1-E4CC-E7AA-D7B6-440A574D7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9313"/>
            <a:ext cx="3649579" cy="513179"/>
          </a:xfrm>
          <a:solidFill>
            <a:schemeClr val="bg1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noProof="0" dirty="0">
                <a:solidFill>
                  <a:schemeClr val="accent5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Yeast Mutants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85ED3-91ED-0D93-2407-410BEBDFD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2014395"/>
            <a:ext cx="10515600" cy="3107400"/>
          </a:xfrm>
        </p:spPr>
        <p:txBody>
          <a:bodyPr>
            <a:normAutofit/>
          </a:bodyPr>
          <a:lstStyle/>
          <a:p>
            <a:r>
              <a:rPr lang="en-US" sz="2000" b="1" noProof="0" dirty="0">
                <a:latin typeface="Helvetica" panose="020B0604020202020204" pitchFamily="34" charset="0"/>
                <a:cs typeface="Helvetica" panose="020B0604020202020204" pitchFamily="34" charset="0"/>
              </a:rPr>
              <a:t>Saccharomyces cerevisiae </a:t>
            </a:r>
            <a:r>
              <a:rPr lang="en-US" sz="2000" noProof="0" dirty="0">
                <a:latin typeface="Helvetica" panose="020B0604020202020204" pitchFamily="34" charset="0"/>
                <a:cs typeface="Helvetica" panose="020B0604020202020204" pitchFamily="34" charset="0"/>
              </a:rPr>
              <a:t>– switches from unicellular to filamentous growth phenotype under specific environmental and genetic conditions</a:t>
            </a:r>
          </a:p>
          <a:p>
            <a:r>
              <a:rPr lang="en-US" sz="2000" noProof="0" dirty="0">
                <a:latin typeface="Helvetica" panose="020B0604020202020204" pitchFamily="34" charset="0"/>
                <a:cs typeface="Helvetica" panose="020B0604020202020204" pitchFamily="34" charset="0"/>
              </a:rPr>
              <a:t>phenotype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transition regulated by 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Mitogen-Activated Protein Kinase (MAPK) pathway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– filamentous (fMAPK) pathway</a:t>
            </a:r>
          </a:p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WT strain carries a </a:t>
            </a:r>
            <a:r>
              <a:rPr lang="en-U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ste4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mutation (∑1278b/</a:t>
            </a:r>
            <a:r>
              <a:rPr lang="en-U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ste4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∆) disrupting fMAPK pathway</a:t>
            </a:r>
          </a:p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4 strains (</a:t>
            </a:r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B4c3, F24c1, J44c1, M56c2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) selected (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SD-HIS + 10 mM 3-ATA</a:t>
            </a:r>
            <a:r>
              <a:rPr lang="en-US" sz="2000">
                <a:latin typeface="Helvetica" panose="020B0604020202020204" pitchFamily="34" charset="0"/>
                <a:cs typeface="Helvetica" panose="020B0604020202020204" pitchFamily="34" charset="0"/>
              </a:rPr>
              <a:t>)                                – 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restore fMAPK pathway </a:t>
            </a:r>
          </a:p>
          <a:p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47F49-5C67-E56B-9B83-4B0840A484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058" b="78421"/>
          <a:stretch>
            <a:fillRect/>
          </a:stretch>
        </p:blipFill>
        <p:spPr>
          <a:xfrm rot="10800000">
            <a:off x="7459578" y="240630"/>
            <a:ext cx="4255170" cy="107845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4979BED-67F2-CC8A-A44D-871A5DBF2C2B}"/>
              </a:ext>
            </a:extLst>
          </p:cNvPr>
          <p:cNvSpPr txBox="1">
            <a:spLocks/>
          </p:cNvSpPr>
          <p:nvPr/>
        </p:nvSpPr>
        <p:spPr>
          <a:xfrm>
            <a:off x="838200" y="1459717"/>
            <a:ext cx="2157662" cy="5131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9B6E886-D830-D3EE-84CB-26728B543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974464"/>
              </p:ext>
            </p:extLst>
          </p:nvPr>
        </p:nvGraphicFramePr>
        <p:xfrm>
          <a:off x="4487779" y="4307307"/>
          <a:ext cx="6866020" cy="2019850"/>
        </p:xfrm>
        <a:graphic>
          <a:graphicData uri="http://schemas.openxmlformats.org/drawingml/2006/table">
            <a:tbl>
              <a:tblPr/>
              <a:tblGrid>
                <a:gridCol w="1003786">
                  <a:extLst>
                    <a:ext uri="{9D8B030D-6E8A-4147-A177-3AD203B41FA5}">
                      <a16:colId xmlns:a16="http://schemas.microsoft.com/office/drawing/2014/main" val="1511197598"/>
                    </a:ext>
                  </a:extLst>
                </a:gridCol>
                <a:gridCol w="1410616">
                  <a:extLst>
                    <a:ext uri="{9D8B030D-6E8A-4147-A177-3AD203B41FA5}">
                      <a16:colId xmlns:a16="http://schemas.microsoft.com/office/drawing/2014/main" val="435985725"/>
                    </a:ext>
                  </a:extLst>
                </a:gridCol>
                <a:gridCol w="1876733">
                  <a:extLst>
                    <a:ext uri="{9D8B030D-6E8A-4147-A177-3AD203B41FA5}">
                      <a16:colId xmlns:a16="http://schemas.microsoft.com/office/drawing/2014/main" val="3559541993"/>
                    </a:ext>
                  </a:extLst>
                </a:gridCol>
                <a:gridCol w="1386084">
                  <a:extLst>
                    <a:ext uri="{9D8B030D-6E8A-4147-A177-3AD203B41FA5}">
                      <a16:colId xmlns:a16="http://schemas.microsoft.com/office/drawing/2014/main" val="2830224562"/>
                    </a:ext>
                  </a:extLst>
                </a:gridCol>
                <a:gridCol w="1188801">
                  <a:extLst>
                    <a:ext uri="{9D8B030D-6E8A-4147-A177-3AD203B41FA5}">
                      <a16:colId xmlns:a16="http://schemas.microsoft.com/office/drawing/2014/main" val="2656920360"/>
                    </a:ext>
                  </a:extLst>
                </a:gridCol>
              </a:tblGrid>
              <a:tr h="2019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Strain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Position of Mutation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Type of Mutation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Alteration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Affected Gene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890211"/>
                  </a:ext>
                </a:extLst>
              </a:tr>
              <a:tr h="2019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B4c3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VII: 1067506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frameshift (HIGH)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 T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C </a:t>
                      </a:r>
                      <a:r>
                        <a:rPr lang="en-US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 A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X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IMA1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724721"/>
                  </a:ext>
                </a:extLst>
              </a:tr>
              <a:tr h="2019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B4c4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VII: 576228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stop gained (HIGH)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TG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 </a:t>
                      </a:r>
                      <a:r>
                        <a:rPr lang="en-US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TG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Bahnschrift Light" panose="020B0502040204020203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KSS1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973044"/>
                  </a:ext>
                </a:extLst>
              </a:tr>
              <a:tr h="2019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B4c5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XII: 1003220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missense (MODERATE)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TT </a:t>
                      </a:r>
                      <a:r>
                        <a:rPr lang="en-US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CTT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IMD3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090537"/>
                  </a:ext>
                </a:extLst>
              </a:tr>
              <a:tr h="2019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B4c6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XV: 172670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missense (MODERATE)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A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C </a:t>
                      </a:r>
                      <a:r>
                        <a:rPr lang="en-US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 A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IRA2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084428"/>
                  </a:ext>
                </a:extLst>
              </a:tr>
              <a:tr h="2019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F24c1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VIII: 275671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stop_gained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 (HIGH)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T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T </a:t>
                      </a:r>
                      <a:r>
                        <a:rPr lang="en-US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 T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STE12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874676"/>
                  </a:ext>
                </a:extLst>
              </a:tr>
              <a:tr h="2019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J44c1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IV: 527747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missense (MODERATE)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A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T </a:t>
                      </a:r>
                      <a:r>
                        <a:rPr lang="en-US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A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ENA5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760980"/>
                  </a:ext>
                </a:extLst>
              </a:tr>
              <a:tr h="2019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J44c2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XII: 851652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missense (MODERATE)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A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T </a:t>
                      </a:r>
                      <a:r>
                        <a:rPr lang="en-US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A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STE11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22782"/>
                  </a:ext>
                </a:extLst>
              </a:tr>
              <a:tr h="2019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M56c1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VII: 481460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missense (MODERATE)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GT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  </a:t>
                      </a:r>
                      <a:r>
                        <a:rPr lang="en-US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 GT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Bahnschrift Light" panose="020B0502040204020203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PMA1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618527"/>
                  </a:ext>
                </a:extLst>
              </a:tr>
              <a:tr h="2019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M56c2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VI: 124983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stop_gained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 (HIGH)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 T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C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A </a:t>
                      </a:r>
                      <a:r>
                        <a:rPr lang="en-US" sz="12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 T</a:t>
                      </a: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Bahnschrift Light" panose="020B0502040204020203" pitchFamily="34" charset="0"/>
                        </a:rPr>
                        <a:t>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" panose="020B0502040204020203" pitchFamily="34" charset="0"/>
                        </a:rPr>
                        <a:t>BLM10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59008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AF2F6B7-8755-0610-7C84-F25B245EB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923023"/>
              </p:ext>
            </p:extLst>
          </p:nvPr>
        </p:nvGraphicFramePr>
        <p:xfrm>
          <a:off x="1064796" y="5580417"/>
          <a:ext cx="3196386" cy="750570"/>
        </p:xfrm>
        <a:graphic>
          <a:graphicData uri="http://schemas.openxmlformats.org/drawingml/2006/table">
            <a:tbl>
              <a:tblPr/>
              <a:tblGrid>
                <a:gridCol w="1065462">
                  <a:extLst>
                    <a:ext uri="{9D8B030D-6E8A-4147-A177-3AD203B41FA5}">
                      <a16:colId xmlns:a16="http://schemas.microsoft.com/office/drawing/2014/main" val="1458776870"/>
                    </a:ext>
                  </a:extLst>
                </a:gridCol>
                <a:gridCol w="1065462">
                  <a:extLst>
                    <a:ext uri="{9D8B030D-6E8A-4147-A177-3AD203B41FA5}">
                      <a16:colId xmlns:a16="http://schemas.microsoft.com/office/drawing/2014/main" val="566979845"/>
                    </a:ext>
                  </a:extLst>
                </a:gridCol>
                <a:gridCol w="1065462">
                  <a:extLst>
                    <a:ext uri="{9D8B030D-6E8A-4147-A177-3AD203B41FA5}">
                      <a16:colId xmlns:a16="http://schemas.microsoft.com/office/drawing/2014/main" val="2366090500"/>
                    </a:ext>
                  </a:extLst>
                </a:gridCol>
              </a:tblGrid>
              <a:tr h="203888"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Aptos Narrow" panose="020B0004020202020204" pitchFamily="34" charset="0"/>
                        </a:rPr>
                        <a:t>FUS1-LacZ expressionlevel = Hyperactivity of fMAPK pathway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4413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80926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DBC9CEB2-DC97-6BAA-A6A1-85CE0B2FD145}"/>
              </a:ext>
            </a:extLst>
          </p:cNvPr>
          <p:cNvSpPr/>
          <p:nvPr/>
        </p:nvSpPr>
        <p:spPr>
          <a:xfrm>
            <a:off x="4487780" y="4493206"/>
            <a:ext cx="6866017" cy="208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428EC0-F358-BB9D-F9AE-280A3D097F1A}"/>
              </a:ext>
            </a:extLst>
          </p:cNvPr>
          <p:cNvSpPr/>
          <p:nvPr/>
        </p:nvSpPr>
        <p:spPr>
          <a:xfrm>
            <a:off x="4487778" y="4942399"/>
            <a:ext cx="6866017" cy="208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2E83EA-E81F-B1BD-F3CC-AE91A71C9637}"/>
              </a:ext>
            </a:extLst>
          </p:cNvPr>
          <p:cNvSpPr/>
          <p:nvPr/>
        </p:nvSpPr>
        <p:spPr>
          <a:xfrm>
            <a:off x="4487778" y="5105383"/>
            <a:ext cx="6866017" cy="2081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3BC221-0F8E-24DB-C87B-2B7B482BA8A8}"/>
              </a:ext>
            </a:extLst>
          </p:cNvPr>
          <p:cNvSpPr/>
          <p:nvPr/>
        </p:nvSpPr>
        <p:spPr>
          <a:xfrm>
            <a:off x="4477756" y="5539162"/>
            <a:ext cx="6876039" cy="1820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A12216-531C-0688-971A-AD1ADD8E960E}"/>
              </a:ext>
            </a:extLst>
          </p:cNvPr>
          <p:cNvSpPr/>
          <p:nvPr/>
        </p:nvSpPr>
        <p:spPr>
          <a:xfrm>
            <a:off x="4477755" y="5927476"/>
            <a:ext cx="6876040" cy="3994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5B4A7E-E8C9-8B16-3F31-689EA31CC883}"/>
              </a:ext>
            </a:extLst>
          </p:cNvPr>
          <p:cNvCxnSpPr>
            <a:cxnSpLocks/>
          </p:cNvCxnSpPr>
          <p:nvPr/>
        </p:nvCxnSpPr>
        <p:spPr>
          <a:xfrm flipH="1">
            <a:off x="11065039" y="4819923"/>
            <a:ext cx="577515" cy="0"/>
          </a:xfrm>
          <a:prstGeom prst="straightConnector1">
            <a:avLst/>
          </a:prstGeom>
          <a:ln w="76200">
            <a:solidFill>
              <a:schemeClr val="accent1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36608B-4BAA-C263-6641-9541A9004AD5}"/>
              </a:ext>
            </a:extLst>
          </p:cNvPr>
          <p:cNvCxnSpPr>
            <a:cxnSpLocks/>
          </p:cNvCxnSpPr>
          <p:nvPr/>
        </p:nvCxnSpPr>
        <p:spPr>
          <a:xfrm flipH="1">
            <a:off x="11055015" y="5421501"/>
            <a:ext cx="577515" cy="0"/>
          </a:xfrm>
          <a:prstGeom prst="straightConnector1">
            <a:avLst/>
          </a:prstGeom>
          <a:ln w="76200">
            <a:solidFill>
              <a:schemeClr val="accent1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FDF683-1406-D100-3DD8-32271303E4E6}"/>
              </a:ext>
            </a:extLst>
          </p:cNvPr>
          <p:cNvCxnSpPr>
            <a:cxnSpLocks/>
          </p:cNvCxnSpPr>
          <p:nvPr/>
        </p:nvCxnSpPr>
        <p:spPr>
          <a:xfrm flipH="1">
            <a:off x="11055014" y="5832440"/>
            <a:ext cx="577515" cy="0"/>
          </a:xfrm>
          <a:prstGeom prst="straightConnector1">
            <a:avLst/>
          </a:prstGeom>
          <a:ln w="76200">
            <a:solidFill>
              <a:schemeClr val="accent1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35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67000"/>
              </a:schemeClr>
            </a:gs>
            <a:gs pos="48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59FFFC3-D925-EAEE-EA42-847358355D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2593"/>
          <a:stretch>
            <a:fillRect/>
          </a:stretch>
        </p:blipFill>
        <p:spPr>
          <a:xfrm>
            <a:off x="836611" y="2106237"/>
            <a:ext cx="4351812" cy="380126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12553-A91B-188F-2DF0-8AA9A4C9D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97905" y="1681163"/>
            <a:ext cx="5183188" cy="411956"/>
          </a:xfrm>
        </p:spPr>
        <p:txBody>
          <a:bodyPr>
            <a:normAutofit lnSpcReduction="10000"/>
          </a:bodyPr>
          <a:lstStyle/>
          <a:p>
            <a:r>
              <a:rPr lang="en-US" b="0" noProof="0" dirty="0">
                <a:latin typeface="Helvetica" panose="020B0604020202020204" pitchFamily="34" charset="0"/>
                <a:cs typeface="Helvetica" panose="020B0604020202020204" pitchFamily="34" charset="0"/>
              </a:rPr>
              <a:t>Candidates: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67795A-6386-734F-22D3-A9302560B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82126" y="2093119"/>
            <a:ext cx="6332621" cy="1335881"/>
          </a:xfrm>
        </p:spPr>
        <p:txBody>
          <a:bodyPr>
            <a:normAutofit/>
          </a:bodyPr>
          <a:lstStyle/>
          <a:p>
            <a:pPr algn="just"/>
            <a:r>
              <a:rPr lang="de-CH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STE11</a:t>
            </a:r>
            <a:r>
              <a:rPr lang="de-CH" sz="1800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Serine/threonine protein kinase required for cell-type-specific transcription and signal transduction in yeast. It is thought that it phosphorylates the STE7 protein kinase which itself, phosphorylates the FUS3 and or KSS1 kinases</a:t>
            </a:r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8DFB30-F64F-FF6C-BB66-CBC0BDEF1F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8421"/>
          <a:stretch>
            <a:fillRect/>
          </a:stretch>
        </p:blipFill>
        <p:spPr>
          <a:xfrm>
            <a:off x="477252" y="240631"/>
            <a:ext cx="6982326" cy="10784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0C61F0-C3EA-2E80-9B7A-9D517AC26D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058" b="78421"/>
          <a:stretch>
            <a:fillRect/>
          </a:stretch>
        </p:blipFill>
        <p:spPr>
          <a:xfrm rot="10800000">
            <a:off x="7459578" y="240630"/>
            <a:ext cx="4255170" cy="10784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F1A7D4-CF8C-030F-48A9-C1DE90FC0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514"/>
            <a:ext cx="9087853" cy="501653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n-US" sz="3600" noProof="0" dirty="0">
                <a:latin typeface="Helvetica" panose="020B0604020202020204" pitchFamily="34" charset="0"/>
                <a:cs typeface="Helvetica" panose="020B0604020202020204" pitchFamily="34" charset="0"/>
              </a:rPr>
              <a:t>Suppressor mutation of fMAPK pathway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985D00-995F-96E5-C66B-A06125EA9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de-CH" b="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lang="en-US" b="0" dirty="0">
                <a:latin typeface="Helvetica" panose="020B0604020202020204" pitchFamily="34" charset="0"/>
                <a:cs typeface="Helvetica" panose="020B0604020202020204" pitchFamily="34" charset="0"/>
              </a:rPr>
              <a:t>APK pathway </a:t>
            </a:r>
            <a:r>
              <a:rPr lang="en-US" b="0" dirty="0">
                <a:solidFill>
                  <a:schemeClr val="accent5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</a:p>
          <a:p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CFA4369-0856-86A1-B7C7-7DF7928112EF}"/>
              </a:ext>
            </a:extLst>
          </p:cNvPr>
          <p:cNvSpPr/>
          <p:nvPr/>
        </p:nvSpPr>
        <p:spPr>
          <a:xfrm>
            <a:off x="3938336" y="4972300"/>
            <a:ext cx="381001" cy="2975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79CC1B2-0D4D-D0A3-AD34-DBB2502F3C3D}"/>
              </a:ext>
            </a:extLst>
          </p:cNvPr>
          <p:cNvSpPr/>
          <p:nvPr/>
        </p:nvSpPr>
        <p:spPr>
          <a:xfrm>
            <a:off x="3938335" y="4382754"/>
            <a:ext cx="381001" cy="2975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8E053C-04B5-CD21-DC2C-DE4E61E683F0}"/>
              </a:ext>
            </a:extLst>
          </p:cNvPr>
          <p:cNvSpPr/>
          <p:nvPr/>
        </p:nvSpPr>
        <p:spPr>
          <a:xfrm>
            <a:off x="3777914" y="5269832"/>
            <a:ext cx="381001" cy="2975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8222FE-8D22-6C89-23D3-C07CEF6BDBBD}"/>
              </a:ext>
            </a:extLst>
          </p:cNvPr>
          <p:cNvSpPr txBox="1"/>
          <p:nvPr/>
        </p:nvSpPr>
        <p:spPr>
          <a:xfrm>
            <a:off x="5382126" y="3425788"/>
            <a:ext cx="60939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KSS1</a:t>
            </a:r>
            <a:r>
              <a:rPr lang="en-US" sz="18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:  MAP kinase that regulates yeast mating and filamentation by phosphorylating downstream targets and controlling the transcription factor Ste12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48816D-600A-0709-0A3F-7CA1A7019D4B}"/>
              </a:ext>
            </a:extLst>
          </p:cNvPr>
          <p:cNvSpPr txBox="1"/>
          <p:nvPr/>
        </p:nvSpPr>
        <p:spPr>
          <a:xfrm>
            <a:off x="5382126" y="4352330"/>
            <a:ext cx="60939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STE12:  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Transcription factor that is activated by a MAPK signaling cascade; activates genes involved in mating or pseudohyphal/invasive growth pathways; cooperates with Tec1p transcription factor to regulate genes specific for invasive growth..</a:t>
            </a:r>
          </a:p>
        </p:txBody>
      </p:sp>
    </p:spTree>
    <p:extLst>
      <p:ext uri="{BB962C8B-B14F-4D97-AF65-F5344CB8AC3E}">
        <p14:creationId xmlns:p14="http://schemas.microsoft.com/office/powerpoint/2010/main" val="103253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5" grpId="0" animBg="1"/>
      <p:bldP spid="16" grpId="0" animBg="1"/>
      <p:bldP spid="17" grpId="0" animBg="1"/>
      <p:bldP spid="19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6CC3E-731A-E480-A2C1-BDF40F6F1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2F186-1BA7-84B3-4F8D-A2F0C911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383C7-4E2D-98EF-E51E-E95606883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75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11D20-5D6F-B0CD-442E-A47C743D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7B-501B-6264-9DB7-7FBA65B8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8C22A-9A91-5DE6-402D-B20CB0246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36F54-CD01-BB9D-D97E-F264046950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3E0394-8782-5731-35A7-22F56D7FB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A6A68A-BD2B-3844-AE49-E77BDCAA51B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66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70c90aa-c439-49a8-9ee0-0c1409a9659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5AE8DF2B5ED424D9E6B6D39FF444C3A" ma:contentTypeVersion="17" ma:contentTypeDescription="Ein neues Dokument erstellen." ma:contentTypeScope="" ma:versionID="26ec71ab8a30d0a64ac6c9d946c6dd9d">
  <xsd:schema xmlns:xsd="http://www.w3.org/2001/XMLSchema" xmlns:xs="http://www.w3.org/2001/XMLSchema" xmlns:p="http://schemas.microsoft.com/office/2006/metadata/properties" xmlns:ns3="570c90aa-c439-49a8-9ee0-0c1409a96591" xmlns:ns4="9aff133c-abad-43e6-80d6-16d5cfe20d62" targetNamespace="http://schemas.microsoft.com/office/2006/metadata/properties" ma:root="true" ma:fieldsID="3135b5625caa1f20a413a84faac460c9" ns3:_="" ns4:_="">
    <xsd:import namespace="570c90aa-c439-49a8-9ee0-0c1409a96591"/>
    <xsd:import namespace="9aff133c-abad-43e6-80d6-16d5cfe20d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0c90aa-c439-49a8-9ee0-0c1409a965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f133c-abad-43e6-80d6-16d5cfe20d6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FAF916-67AB-47AB-9ECE-34DF3BA24B82}">
  <ds:schemaRefs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www.w3.org/XML/1998/namespace"/>
    <ds:schemaRef ds:uri="9aff133c-abad-43e6-80d6-16d5cfe20d62"/>
    <ds:schemaRef ds:uri="570c90aa-c439-49a8-9ee0-0c1409a96591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DD427AF-42F2-4274-8029-44734F14B7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69A651-D627-489B-B22E-37C172DBF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0c90aa-c439-49a8-9ee0-0c1409a96591"/>
    <ds:schemaRef ds:uri="9aff133c-abad-43e6-80d6-16d5cfe20d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</Words>
  <Application>Microsoft Office PowerPoint</Application>
  <PresentationFormat>Widescreen</PresentationFormat>
  <Paragraphs>117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Bahnschrift Light</vt:lpstr>
      <vt:lpstr>Helvetica</vt:lpstr>
      <vt:lpstr>Wingdings</vt:lpstr>
      <vt:lpstr>Office Theme</vt:lpstr>
      <vt:lpstr>SBC.07107 - Bioinformatics Group-F presentation</vt:lpstr>
      <vt:lpstr>Yeast Mutants</vt:lpstr>
      <vt:lpstr>Suppressor mutation of fMAPK pathway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GULL Morgane</dc:creator>
  <cp:lastModifiedBy>GULL Morgane</cp:lastModifiedBy>
  <cp:revision>2</cp:revision>
  <dcterms:created xsi:type="dcterms:W3CDTF">2025-11-09T13:48:11Z</dcterms:created>
  <dcterms:modified xsi:type="dcterms:W3CDTF">2025-11-09T17:28:37Z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0x01010035AE8DF2B5ED424D9E6B6D39FF444C3A</vt:lpwstr>
  </property>
</Properties>
</file>